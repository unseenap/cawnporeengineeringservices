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559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7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692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olished_architectural_industrial_illus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78992"/>
            <a:ext cx="5440680" cy="3063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6213B"/>
          </a:solidFill>
          <a:ln w="12700">
            <a:solidFill>
              <a:srgbClr val="06213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502920"/>
            <a:ext cx="543154" cy="543154"/>
          </a:xfrm>
          <a:prstGeom prst="arc">
            <a:avLst/>
          </a:prstGeom>
          <a:noFill/>
          <a:ln w="44577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929030" y="700430"/>
            <a:ext cx="123444" cy="123444"/>
          </a:xfrm>
          <a:prstGeom prst="ellipse">
            <a:avLst/>
          </a:prstGeom>
          <a:solidFill>
            <a:srgbClr val="C9A15D"/>
          </a:solidFill>
          <a:ln w="12700">
            <a:solidFill>
              <a:srgbClr val="C9A15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7200000">
            <a:off x="830275" y="601675"/>
            <a:ext cx="345643" cy="345643"/>
          </a:xfrm>
          <a:prstGeom prst="arc">
            <a:avLst/>
          </a:prstGeom>
          <a:noFill/>
          <a:ln w="24003">
            <a:solidFill>
              <a:srgbClr val="C9A1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47495" y="601675"/>
            <a:ext cx="3950208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1053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CAWNPORE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804672" y="26151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A9DD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SERVICES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04672" y="3127248"/>
            <a:ext cx="868680" cy="0"/>
          </a:xfrm>
          <a:prstGeom prst="line">
            <a:avLst/>
          </a:prstGeom>
          <a:noFill/>
          <a:ln w="25400">
            <a:solidFill>
              <a:srgbClr val="C9A1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4015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7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Climate. Our Commitment.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4160520"/>
            <a:ext cx="44805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HVAC solutions for commercial, residential and industrial environments.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5074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AF8FA"/>
          </a:solidFill>
          <a:ln w="12700">
            <a:solidFill>
              <a:srgbClr val="EAF8F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5148072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6213B"/>
                </a:solidFill>
              </a:rPr>
              <a:t>Established 2021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2606040" y="507492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AF8FA"/>
          </a:solidFill>
          <a:ln w="12700">
            <a:solidFill>
              <a:srgbClr val="EAF8F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15768" y="5148072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6213B"/>
                </a:solidFill>
              </a:rPr>
              <a:t>Headquarters: Kanpur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822960" y="553212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EAF8FA"/>
          </a:solidFill>
          <a:ln w="12700">
            <a:solidFill>
              <a:srgbClr val="EAF8F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5605272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6213B"/>
                </a:solidFill>
              </a:rPr>
              <a:t>Pan-India Operations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F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456B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F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29184"/>
            <a:ext cx="402336" cy="402336"/>
          </a:xfrm>
          <a:prstGeom prst="arc">
            <a:avLst/>
          </a:prstGeom>
          <a:noFill/>
          <a:ln w="33020">
            <a:solidFill>
              <a:srgbClr val="06213B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341864" y="475488"/>
            <a:ext cx="91440" cy="91440"/>
          </a:xfrm>
          <a:prstGeom prst="ellipse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10268712" y="402336"/>
            <a:ext cx="256032" cy="256032"/>
          </a:xfrm>
          <a:prstGeom prst="arc">
            <a:avLst/>
          </a:prstGeom>
          <a:noFill/>
          <a:ln w="17780">
            <a:solidFill>
              <a:srgbClr val="2FB9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Company Snapshot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731520" cy="0"/>
          </a:xfrm>
          <a:prstGeom prst="line">
            <a:avLst/>
          </a:prstGeom>
          <a:noFill/>
          <a:ln w="38100">
            <a:solidFill>
              <a:srgbClr val="2FB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Kanpur-based HVAC engineering partner built around comfort, air quality and energy efficiency.</a:t>
            </a:r>
            <a:endParaRPr lang="en-US" sz="1350" dirty="0"/>
          </a:p>
        </p:txBody>
      </p:sp>
      <p:pic>
        <p:nvPicPr>
          <p:cNvPr id="8" name="Image 0" descr="/mnt/data/wide_clean_vector_illustration_graphic_design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481328"/>
            <a:ext cx="3255264" cy="1828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01000" y="1481328"/>
            <a:ext cx="3255264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CE9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05740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12700" dist="50800" dir="2700000" algn="bl" rotWithShape="0">
              <a:srgbClr val="D9E5EC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" y="22037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6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1248" y="25694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Founded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88920" y="205740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12700" dist="50800" dir="2700000" algn="bl" rotWithShape="0">
              <a:srgbClr val="D9E5EC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971800" y="22037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6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Kanpur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971800" y="25694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Headquarters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19472" y="205740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12700" dist="50800" dir="2700000" algn="bl" rotWithShape="0">
              <a:srgbClr val="D9E5EC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02352" y="22037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6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Pan-India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02352" y="25694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8368" y="3401568"/>
            <a:ext cx="3273552" cy="1298448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" y="3401568"/>
            <a:ext cx="73152" cy="1298448"/>
          </a:xfrm>
          <a:prstGeom prst="rect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" y="363016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B38"/>
                </a:solidFill>
              </a:rPr>
              <a:t>Industry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32688" y="3995928"/>
            <a:ext cx="27706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HVAC - Heating, Ventilation and Air Conditioning solutions.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60520" y="3401568"/>
            <a:ext cx="3273552" cy="1755648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160520" y="3401568"/>
            <a:ext cx="73152" cy="1616202"/>
          </a:xfrm>
          <a:prstGeom prst="rect">
            <a:avLst/>
          </a:prstGeom>
          <a:solidFill>
            <a:srgbClr val="C9A15D"/>
          </a:solidFill>
          <a:ln w="12700">
            <a:solidFill>
              <a:srgbClr val="C9A15D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34840" y="363016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B38"/>
                </a:solidFill>
              </a:rPr>
              <a:t>Business Areas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434840" y="3995928"/>
            <a:ext cx="322783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647587"/>
                </a:solidFill>
              </a:rPr>
              <a:t>Commercial HVAC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647587"/>
                </a:solidFill>
              </a:rPr>
              <a:t>Residential HVAC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647587"/>
                </a:solidFill>
              </a:rPr>
              <a:t>Industrial HVAC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647587"/>
                </a:solidFill>
              </a:rPr>
              <a:t>Energy-efficient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647587"/>
                </a:solidFill>
              </a:rPr>
              <a:t>climate-control solutions.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662672" y="3401568"/>
            <a:ext cx="3273552" cy="1298448"/>
          </a:xfrm>
          <a:prstGeom prst="roundRect">
            <a:avLst>
              <a:gd name="adj" fmla="val 10563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662672" y="3401568"/>
            <a:ext cx="73152" cy="1298448"/>
          </a:xfrm>
          <a:prstGeom prst="rect">
            <a:avLst/>
          </a:prstGeom>
          <a:solidFill>
            <a:srgbClr val="06213B"/>
          </a:solidFill>
          <a:ln w="12700">
            <a:solidFill>
              <a:srgbClr val="06213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363016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B38"/>
                </a:solidFill>
              </a:rPr>
              <a:t>Brand Promise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936992" y="3995928"/>
            <a:ext cx="27706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Reliable engineering, tailored comfort, improved air quality and sustainable system performance.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58368" y="5230368"/>
            <a:ext cx="10881360" cy="713232"/>
          </a:xfrm>
          <a:prstGeom prst="roundRect">
            <a:avLst>
              <a:gd name="adj" fmla="val 19231"/>
            </a:avLst>
          </a:prstGeom>
          <a:solidFill>
            <a:srgbClr val="EAF8FA"/>
          </a:solidFill>
          <a:ln w="12700">
            <a:solidFill>
              <a:srgbClr val="EAF8FA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6112" y="54132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6213B"/>
                </a:solidFill>
              </a:rPr>
              <a:t>“Your Climate. Our Commitment.”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29184"/>
            <a:ext cx="402336" cy="402336"/>
          </a:xfrm>
          <a:prstGeom prst="arc">
            <a:avLst/>
          </a:prstGeom>
          <a:noFill/>
          <a:ln w="33020">
            <a:solidFill>
              <a:srgbClr val="06213B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341864" y="475488"/>
            <a:ext cx="91440" cy="91440"/>
          </a:xfrm>
          <a:prstGeom prst="ellipse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10268712" y="402336"/>
            <a:ext cx="256032" cy="256032"/>
          </a:xfrm>
          <a:prstGeom prst="arc">
            <a:avLst/>
          </a:prstGeom>
          <a:noFill/>
          <a:ln w="17780">
            <a:solidFill>
              <a:srgbClr val="2FB9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Mission, Vision &amp; Values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731520" cy="0"/>
          </a:xfrm>
          <a:prstGeom prst="line">
            <a:avLst/>
          </a:prstGeom>
          <a:noFill/>
          <a:ln w="38100">
            <a:solidFill>
              <a:srgbClr val="2FB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company’s operating direction, service philosophy and core standards.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1993392"/>
            <a:ext cx="3547872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993392"/>
            <a:ext cx="73152" cy="2423160"/>
          </a:xfrm>
          <a:prstGeom prst="rect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219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E2B38"/>
                </a:solidFill>
              </a:rPr>
              <a:t>Mission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2688" y="2587752"/>
            <a:ext cx="304495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587"/>
                </a:solidFill>
              </a:rPr>
              <a:t>Deliver exceptional HVAC solutions that enhance comfort, improve air quality and optimize energy efficiency while exceeding customer expectations through innovation and service excellence.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62272" y="1993392"/>
            <a:ext cx="3547872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4462272" y="1993392"/>
            <a:ext cx="73152" cy="2423160"/>
          </a:xfrm>
          <a:prstGeom prst="rect">
            <a:avLst/>
          </a:prstGeom>
          <a:solidFill>
            <a:srgbClr val="C9A15D"/>
          </a:solidFill>
          <a:ln w="12700">
            <a:solidFill>
              <a:srgbClr val="C9A15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2219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E2B38"/>
                </a:solidFill>
              </a:rPr>
              <a:t>Vision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6592" y="2587752"/>
            <a:ext cx="304495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587"/>
                </a:solidFill>
              </a:rPr>
              <a:t>Be India’s most trusted HVAC service provider, recognized for technical expertise, customer-centric delivery and sustainable practices shaping climate-control technology.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66176" y="1993392"/>
            <a:ext cx="3273552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8266176" y="1993392"/>
            <a:ext cx="73152" cy="2423160"/>
          </a:xfrm>
          <a:prstGeom prst="rect">
            <a:avLst/>
          </a:prstGeom>
          <a:solidFill>
            <a:srgbClr val="06213B"/>
          </a:solidFill>
          <a:ln w="12700">
            <a:solidFill>
              <a:srgbClr val="06213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0496" y="222199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E2B38"/>
                </a:solidFill>
              </a:rPr>
              <a:t>Values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40496" y="2587752"/>
            <a:ext cx="277063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587"/>
                </a:solidFill>
              </a:rPr>
              <a:t>Guided by integrity, excellence, innovation, sustainability and a deep commitment to customer satisfaction in every engagement.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" y="4892040"/>
            <a:ext cx="438912" cy="438912"/>
          </a:xfrm>
          <a:prstGeom prst="ellipse">
            <a:avLst/>
          </a:prstGeom>
          <a:solidFill>
            <a:srgbClr val="2FB9B7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9011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8"/>
                </a:solidFill>
              </a:rPr>
              <a:t>Quality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5175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Uncompromising standards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39312" y="4892040"/>
            <a:ext cx="438912" cy="438912"/>
          </a:xfrm>
          <a:prstGeom prst="ellipse">
            <a:avLst/>
          </a:prstGeom>
          <a:solidFill>
            <a:srgbClr val="C9A15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49011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8"/>
                </a:solidFill>
              </a:rPr>
              <a:t>Sustainability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5175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Eco-friendly solutions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73952" y="4924697"/>
            <a:ext cx="438912" cy="438912"/>
          </a:xfrm>
          <a:prstGeom prst="ellipse">
            <a:avLst/>
          </a:prstGeom>
          <a:solidFill>
            <a:srgbClr val="2FB9B7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49011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8"/>
                </a:solidFill>
              </a:rPr>
              <a:t>Innovation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5175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New technologies and methods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08592" y="4892040"/>
            <a:ext cx="438912" cy="438912"/>
          </a:xfrm>
          <a:prstGeom prst="ellipse">
            <a:avLst/>
          </a:prstGeom>
          <a:solidFill>
            <a:srgbClr val="C9A15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0" y="49011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8"/>
                </a:solidFill>
              </a:rPr>
              <a:t>Customer Focus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5175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Exceeding expectations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7" name="Graphic 36" descr="Atom with solid fill">
            <a:extLst>
              <a:ext uri="{FF2B5EF4-FFF2-40B4-BE49-F238E27FC236}">
                <a16:creationId xmlns:a16="http://schemas.microsoft.com/office/drawing/2014/main" id="{E86B6CB5-6E3C-D92C-0146-5B2C6A5BF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4892040"/>
            <a:ext cx="438912" cy="438912"/>
          </a:xfrm>
          <a:prstGeom prst="rect">
            <a:avLst/>
          </a:prstGeom>
        </p:spPr>
      </p:pic>
      <p:pic>
        <p:nvPicPr>
          <p:cNvPr id="39" name="Graphic 38" descr="Deciduous tree with solid fill">
            <a:extLst>
              <a:ext uri="{FF2B5EF4-FFF2-40B4-BE49-F238E27FC236}">
                <a16:creationId xmlns:a16="http://schemas.microsoft.com/office/drawing/2014/main" id="{D45D2007-6EE5-F944-71BC-4AE0C9A9C3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2014" y="4924697"/>
            <a:ext cx="351391" cy="351391"/>
          </a:xfrm>
          <a:prstGeom prst="rect">
            <a:avLst/>
          </a:prstGeom>
        </p:spPr>
      </p:pic>
      <p:pic>
        <p:nvPicPr>
          <p:cNvPr id="41" name="Graphic 40" descr="Business Growth with solid fill">
            <a:extLst>
              <a:ext uri="{FF2B5EF4-FFF2-40B4-BE49-F238E27FC236}">
                <a16:creationId xmlns:a16="http://schemas.microsoft.com/office/drawing/2014/main" id="{8D8C30CC-5A85-C8C4-7510-D9AD5B96E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8680" y="4924697"/>
            <a:ext cx="378824" cy="378824"/>
          </a:xfrm>
          <a:prstGeom prst="rect">
            <a:avLst/>
          </a:prstGeom>
        </p:spPr>
      </p:pic>
      <p:pic>
        <p:nvPicPr>
          <p:cNvPr id="43" name="Graphic 42" descr="Arrow circle with solid fill">
            <a:extLst>
              <a:ext uri="{FF2B5EF4-FFF2-40B4-BE49-F238E27FC236}">
                <a16:creationId xmlns:a16="http://schemas.microsoft.com/office/drawing/2014/main" id="{709D11E3-6BDB-A01C-6083-28B690A27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0480" y="4942112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29184"/>
            <a:ext cx="402336" cy="402336"/>
          </a:xfrm>
          <a:prstGeom prst="arc">
            <a:avLst/>
          </a:prstGeom>
          <a:noFill/>
          <a:ln w="33020">
            <a:solidFill>
              <a:srgbClr val="06213B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341864" y="475488"/>
            <a:ext cx="91440" cy="91440"/>
          </a:xfrm>
          <a:prstGeom prst="ellipse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10268712" y="402336"/>
            <a:ext cx="256032" cy="256032"/>
          </a:xfrm>
          <a:prstGeom prst="arc">
            <a:avLst/>
          </a:prstGeom>
          <a:noFill/>
          <a:ln w="17780">
            <a:solidFill>
              <a:srgbClr val="2FB9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HVAC Solutions Across Segments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731520" cy="0"/>
          </a:xfrm>
          <a:prstGeom prst="line">
            <a:avLst/>
          </a:prstGeom>
          <a:noFill/>
          <a:ln w="38100">
            <a:solidFill>
              <a:srgbClr val="2FB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service platform for commercial, residential, industrial and sustainable climate-control needs.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512064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920240"/>
            <a:ext cx="73152" cy="1170432"/>
          </a:xfrm>
          <a:prstGeom prst="rect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488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B38"/>
                </a:solidFill>
              </a:rPr>
              <a:t>Commercial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514600"/>
            <a:ext cx="46177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Offices, retail spaces, malls and institutions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Comfortable, productive environments.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73368" y="1920240"/>
            <a:ext cx="512064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73368" y="1920240"/>
            <a:ext cx="73152" cy="1170432"/>
          </a:xfrm>
          <a:prstGeom prst="rect">
            <a:avLst/>
          </a:prstGeom>
          <a:solidFill>
            <a:srgbClr val="C9A15D"/>
          </a:solidFill>
          <a:ln w="12700">
            <a:solidFill>
              <a:srgbClr val="C9A15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21488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B38"/>
                </a:solidFill>
              </a:rPr>
              <a:t>Residential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7688" y="2514600"/>
            <a:ext cx="46177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Homes and residential complexes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Comfort, indoor air quality and efficiency.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493008"/>
            <a:ext cx="512064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493008"/>
            <a:ext cx="73152" cy="1170432"/>
          </a:xfrm>
          <a:prstGeom prst="rect">
            <a:avLst/>
          </a:prstGeom>
          <a:solidFill>
            <a:srgbClr val="06213B"/>
          </a:solidFill>
          <a:ln w="12700">
            <a:solidFill>
              <a:srgbClr val="06213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7216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B38"/>
                </a:solidFill>
              </a:rPr>
              <a:t>Industrial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" y="4087368"/>
            <a:ext cx="46177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Manufacturing and production facilities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Heavy-duty systems, ventilation and process cooling.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73368" y="3493008"/>
            <a:ext cx="512064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E2EDF3"/>
            </a:solidFill>
            <a:prstDash val="solid"/>
          </a:ln>
          <a:effectLst>
            <a:outerShdw blurRad="25400" dist="50800" dir="2700000" algn="bl" rotWithShape="0">
              <a:srgbClr val="D9E5EC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73368" y="3493008"/>
            <a:ext cx="73152" cy="1170432"/>
          </a:xfrm>
          <a:prstGeom prst="rect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37216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B38"/>
                </a:solidFill>
              </a:rPr>
              <a:t>Sustainable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7688" y="4087368"/>
            <a:ext cx="46177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Energy-efficient climate-control solutions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587"/>
                </a:solidFill>
              </a:rPr>
              <a:t>Reduced operational cost and environmental impact.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5257800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06213B"/>
          </a:solidFill>
          <a:ln w="12700">
            <a:solidFill>
              <a:srgbClr val="06213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43153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Tailored engineering + reliable installation + lifecycle service = dependable climate performance.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29184"/>
            <a:ext cx="402336" cy="402336"/>
          </a:xfrm>
          <a:prstGeom prst="arc">
            <a:avLst/>
          </a:prstGeom>
          <a:noFill/>
          <a:ln w="33020">
            <a:solidFill>
              <a:srgbClr val="06213B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341864" y="475488"/>
            <a:ext cx="91440" cy="91440"/>
          </a:xfrm>
          <a:prstGeom prst="ellipse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10268712" y="402336"/>
            <a:ext cx="256032" cy="256032"/>
          </a:xfrm>
          <a:prstGeom prst="arc">
            <a:avLst/>
          </a:prstGeom>
          <a:noFill/>
          <a:ln w="17780">
            <a:solidFill>
              <a:srgbClr val="2FB9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Services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731520" cy="0"/>
          </a:xfrm>
          <a:prstGeom prst="line">
            <a:avLst/>
          </a:prstGeom>
          <a:noFill/>
          <a:ln w="38100">
            <a:solidFill>
              <a:srgbClr val="2FB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Comprehensive HVAC capabilities from design to maintenance and modernization.</a:t>
            </a:r>
            <a:endParaRPr lang="en-US" sz="1350" dirty="0"/>
          </a:p>
        </p:txBody>
      </p:sp>
      <p:pic>
        <p:nvPicPr>
          <p:cNvPr id="8" name="Image 0" descr="/mnt/data/a_wide_highly_detailed_architectural_engine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47672"/>
            <a:ext cx="4892040" cy="27523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6520" y="1947672"/>
            <a:ext cx="4892040" cy="2752344"/>
          </a:xfrm>
          <a:prstGeom prst="roundRect">
            <a:avLst>
              <a:gd name="adj" fmla="val 598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CE9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1883664"/>
            <a:ext cx="347472" cy="347472"/>
          </a:xfrm>
          <a:prstGeom prst="ellipse">
            <a:avLst/>
          </a:prstGeom>
          <a:solidFill>
            <a:srgbClr val="2FB9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9659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43000" y="1874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E2B38"/>
                </a:solidFill>
              </a:rPr>
              <a:t>HVAC Design &amp; Engineering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143000" y="21579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Load calculations, system selection, energy modelling and detailed engineering drawings.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2633472"/>
            <a:ext cx="347472" cy="347472"/>
          </a:xfrm>
          <a:prstGeom prst="ellipse">
            <a:avLst/>
          </a:prstGeom>
          <a:solidFill>
            <a:srgbClr val="C9A1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71576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43000" y="2624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E2B38"/>
                </a:solidFill>
              </a:rPr>
              <a:t>Installation &amp; Commissioning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1143000" y="290779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Equipment installation, ductwork, piping, testing and balancing.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" y="3383280"/>
            <a:ext cx="347472" cy="347472"/>
          </a:xfrm>
          <a:prstGeom prst="ellipse">
            <a:avLst/>
          </a:prstGeom>
          <a:solidFill>
            <a:srgbClr val="2FB9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4655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43000" y="33741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E2B38"/>
                </a:solidFill>
              </a:rPr>
              <a:t>Maintenance &amp; Repair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1143000" y="36576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Preventive maintenance, emergency repair and performance optimization.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" y="4133088"/>
            <a:ext cx="347472" cy="347472"/>
          </a:xfrm>
          <a:prstGeom prst="ellipse">
            <a:avLst/>
          </a:prstGeom>
          <a:solidFill>
            <a:srgbClr val="C9A1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421538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43000" y="41239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E2B38"/>
                </a:solidFill>
              </a:rPr>
              <a:t>Retrofitting &amp; Upgrades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1143000" y="44074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System modernization, efficiency upgrades and refrigerant conversion.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8368" y="4882896"/>
            <a:ext cx="347472" cy="347472"/>
          </a:xfrm>
          <a:prstGeom prst="ellipse">
            <a:avLst/>
          </a:prstGeom>
          <a:solidFill>
            <a:srgbClr val="2FB9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" y="496519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43000" y="4873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E2B38"/>
                </a:solidFill>
              </a:rPr>
              <a:t>Specialized HVAC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1143000" y="51572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Industrial process cooling, clean rooms, ventilation and residential IAQ systems.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29184"/>
            <a:ext cx="402336" cy="402336"/>
          </a:xfrm>
          <a:prstGeom prst="arc">
            <a:avLst/>
          </a:prstGeom>
          <a:noFill/>
          <a:ln w="330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341864" y="475488"/>
            <a:ext cx="91440" cy="91440"/>
          </a:xfrm>
          <a:prstGeom prst="ellipse">
            <a:avLst/>
          </a:prstGeom>
          <a:solidFill>
            <a:srgbClr val="C9A15D"/>
          </a:solidFill>
          <a:ln w="12700">
            <a:solidFill>
              <a:srgbClr val="C9A1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10268712" y="402336"/>
            <a:ext cx="256032" cy="256032"/>
          </a:xfrm>
          <a:prstGeom prst="arc">
            <a:avLst/>
          </a:prstGeom>
          <a:noFill/>
          <a:ln w="17780">
            <a:solidFill>
              <a:srgbClr val="C9A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Capability Map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731520" cy="0"/>
          </a:xfrm>
          <a:prstGeom prst="line">
            <a:avLst/>
          </a:prstGeom>
          <a:noFill/>
          <a:ln w="38100">
            <a:solidFill>
              <a:srgbClr val="C9A1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3E2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execution areas included in the company’s HVAC delivery model.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2880360" cy="1325880"/>
          </a:xfrm>
          <a:prstGeom prst="roundRect">
            <a:avLst>
              <a:gd name="adj" fmla="val 11034"/>
            </a:avLst>
          </a:prstGeom>
          <a:solidFill>
            <a:srgbClr val="0B345F"/>
          </a:solidFill>
          <a:ln w="15240">
            <a:solidFill>
              <a:srgbClr val="2FB9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Design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231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Load calculations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System selection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Engineering drawings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2880360" cy="1325880"/>
          </a:xfrm>
          <a:prstGeom prst="roundRect">
            <a:avLst>
              <a:gd name="adj" fmla="val 11034"/>
            </a:avLst>
          </a:prstGeom>
          <a:solidFill>
            <a:srgbClr val="0A2E52"/>
          </a:solidFill>
          <a:ln w="15240">
            <a:solidFill>
              <a:srgbClr val="C9A1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Energy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3168" y="24231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Energy modelling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Optimization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Efficiency upgrades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2880360" cy="1325880"/>
          </a:xfrm>
          <a:prstGeom prst="roundRect">
            <a:avLst>
              <a:gd name="adj" fmla="val 11034"/>
            </a:avLst>
          </a:prstGeom>
          <a:solidFill>
            <a:srgbClr val="0B345F"/>
          </a:solidFill>
          <a:ln w="15240">
            <a:solidFill>
              <a:srgbClr val="5C8A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Installation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30768" y="24231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Ductwork &amp; piping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Equipment installation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Commissioning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14400" y="4206240"/>
            <a:ext cx="2880360" cy="1325880"/>
          </a:xfrm>
          <a:prstGeom prst="roundRect">
            <a:avLst>
              <a:gd name="adj" fmla="val 11034"/>
            </a:avLst>
          </a:prstGeom>
          <a:solidFill>
            <a:srgbClr val="0A2E52"/>
          </a:solidFill>
          <a:ln w="15240">
            <a:solidFill>
              <a:srgbClr val="2FB9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370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7091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System testing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Balancing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Performance checks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572000" y="4206240"/>
            <a:ext cx="2880360" cy="1325880"/>
          </a:xfrm>
          <a:prstGeom prst="roundRect">
            <a:avLst>
              <a:gd name="adj" fmla="val 11034"/>
            </a:avLst>
          </a:prstGeom>
          <a:solidFill>
            <a:srgbClr val="0B345F"/>
          </a:solidFill>
          <a:ln w="15240">
            <a:solidFill>
              <a:srgbClr val="C9A1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4370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Specialized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73168" y="47091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Clean-room HVAC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Process cooling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Industrial ventilation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229600" y="4206240"/>
            <a:ext cx="2880360" cy="1325880"/>
          </a:xfrm>
          <a:prstGeom prst="roundRect">
            <a:avLst>
              <a:gd name="adj" fmla="val 11034"/>
            </a:avLst>
          </a:prstGeom>
          <a:solidFill>
            <a:srgbClr val="0A2E52"/>
          </a:solidFill>
          <a:ln w="15240">
            <a:solidFill>
              <a:srgbClr val="5C8A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4370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Service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30768" y="47091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Maintenance plans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24/7 emergency repair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FE3ED"/>
                </a:solidFill>
              </a:rPr>
              <a:t>Modernization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F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456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F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29184"/>
            <a:ext cx="402336" cy="402336"/>
          </a:xfrm>
          <a:prstGeom prst="arc">
            <a:avLst/>
          </a:prstGeom>
          <a:noFill/>
          <a:ln w="33020">
            <a:solidFill>
              <a:srgbClr val="06213B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341864" y="475488"/>
            <a:ext cx="91440" cy="91440"/>
          </a:xfrm>
          <a:prstGeom prst="ellipse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10268712" y="402336"/>
            <a:ext cx="256032" cy="256032"/>
          </a:xfrm>
          <a:prstGeom prst="arc">
            <a:avLst/>
          </a:prstGeom>
          <a:noFill/>
          <a:ln w="17780">
            <a:solidFill>
              <a:srgbClr val="2FB9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Industries Served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731520" cy="0"/>
          </a:xfrm>
          <a:prstGeom prst="line">
            <a:avLst/>
          </a:prstGeom>
          <a:noFill/>
          <a:ln w="38100">
            <a:solidFill>
              <a:srgbClr val="2FB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Tailored climate-control solutions for diverse environments and operating requirements.</a:t>
            </a:r>
            <a:endParaRPr lang="en-US" sz="1350" dirty="0"/>
          </a:p>
        </p:txBody>
      </p:sp>
      <p:pic>
        <p:nvPicPr>
          <p:cNvPr id="8" name="Image 0" descr="/mnt/data/a_sleek_high_detail_isometric_3d_vector_style_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4892040" cy="27523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6520" y="1828800"/>
            <a:ext cx="4892040" cy="2752344"/>
          </a:xfrm>
          <a:prstGeom prst="roundRect">
            <a:avLst>
              <a:gd name="adj" fmla="val 598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CE9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1901952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20824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Retail &amp; Malls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66160" y="1901952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EAF8FA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9312" y="2020824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2514600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" y="263347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Manufacturing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66160" y="2514600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EAF8FA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9312" y="263347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Commercial Offices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3127248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" y="3246120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Residential Developments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66160" y="3127248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EAF8FA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39312" y="3246120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Schools, Colleges &amp; Government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7240" y="3739896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0392" y="3858768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Pharmaceutical Clean Rooms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566160" y="3739896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EAF8FA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39312" y="3858768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Data Centres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77240" y="4352544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" y="4471416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Hotels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566160" y="4352544"/>
            <a:ext cx="2423160" cy="384048"/>
          </a:xfrm>
          <a:prstGeom prst="roundRect">
            <a:avLst>
              <a:gd name="adj" fmla="val 16667"/>
            </a:avLst>
          </a:prstGeom>
          <a:solidFill>
            <a:srgbClr val="EAF8FA"/>
          </a:solidFill>
          <a:ln w="6350">
            <a:solidFill>
              <a:srgbClr val="DCE9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39312" y="4471416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8"/>
                </a:solidFill>
              </a:rPr>
              <a:t>Food Processing Facilities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29184"/>
            <a:ext cx="402336" cy="402336"/>
          </a:xfrm>
          <a:prstGeom prst="arc">
            <a:avLst/>
          </a:prstGeom>
          <a:noFill/>
          <a:ln w="33020">
            <a:solidFill>
              <a:srgbClr val="06213B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341864" y="475488"/>
            <a:ext cx="91440" cy="91440"/>
          </a:xfrm>
          <a:prstGeom prst="ellipse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10268712" y="402336"/>
            <a:ext cx="256032" cy="256032"/>
          </a:xfrm>
          <a:prstGeom prst="arc">
            <a:avLst/>
          </a:prstGeom>
          <a:noFill/>
          <a:ln w="17780">
            <a:solidFill>
              <a:srgbClr val="2FB9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Choose 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731520" cy="0"/>
          </a:xfrm>
          <a:prstGeom prst="line">
            <a:avLst/>
          </a:prstGeom>
          <a:noFill/>
          <a:ln w="38100">
            <a:solidFill>
              <a:srgbClr val="2FB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 that support reliable delivery, responsive service and long-term value.</a:t>
            </a:r>
            <a:endParaRPr lang="en-US" sz="1350" dirty="0"/>
          </a:p>
        </p:txBody>
      </p:sp>
      <p:pic>
        <p:nvPicPr>
          <p:cNvPr id="8" name="Image 0" descr="/mnt/data/wide_clean_vector_illustration_graphic_design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938528"/>
            <a:ext cx="3913632" cy="22037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0" y="1938528"/>
            <a:ext cx="3913632" cy="2203704"/>
          </a:xfrm>
          <a:prstGeom prst="roundRect">
            <a:avLst>
              <a:gd name="adj" fmla="val 7469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1901952"/>
            <a:ext cx="278892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901952"/>
            <a:ext cx="73152" cy="749808"/>
          </a:xfrm>
          <a:prstGeom prst="rect">
            <a:avLst/>
          </a:prstGeom>
          <a:solidFill>
            <a:srgbClr val="C9A15D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2048256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B38"/>
                </a:solidFill>
              </a:rPr>
              <a:t>Pan-India Reach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59536" y="229514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Nationwide coverage with local expertise and rapid response.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21608" y="1901952"/>
            <a:ext cx="278892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21608" y="1901952"/>
            <a:ext cx="73152" cy="749808"/>
          </a:xfrm>
          <a:prstGeom prst="rect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22776" y="2048256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B38"/>
                </a:solidFill>
              </a:rPr>
              <a:t>Expert Team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922776" y="229514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Certified engineers, technicians and specialists with continuous training.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" y="2770632"/>
            <a:ext cx="278892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2770632"/>
            <a:ext cx="73152" cy="749808"/>
          </a:xfrm>
          <a:prstGeom prst="rect">
            <a:avLst/>
          </a:prstGeom>
          <a:solidFill>
            <a:srgbClr val="C9A15D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" y="2864467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B38"/>
                </a:solidFill>
              </a:rPr>
              <a:t>Energy Efficiency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59536" y="316382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Solutions focused on reduced operational costs and green-building standards.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21608" y="2770632"/>
            <a:ext cx="278892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21608" y="2770632"/>
            <a:ext cx="73152" cy="749808"/>
          </a:xfrm>
          <a:prstGeom prst="rect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22776" y="2916936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B38"/>
                </a:solidFill>
              </a:rPr>
              <a:t>24/7 Customer Support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922776" y="316382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Emergency response, query handling and assistance whenever needed.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8368" y="3639312"/>
            <a:ext cx="278892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3639312"/>
            <a:ext cx="73152" cy="749808"/>
          </a:xfrm>
          <a:prstGeom prst="rect">
            <a:avLst/>
          </a:prstGeom>
          <a:solidFill>
            <a:srgbClr val="C9A15D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9536" y="3785616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B38"/>
                </a:solidFill>
              </a:rPr>
              <a:t>Timely Delivery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59536" y="403250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On-time completion without compromising quality.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21608" y="3639312"/>
            <a:ext cx="278892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721608" y="3639312"/>
            <a:ext cx="73152" cy="749808"/>
          </a:xfrm>
          <a:prstGeom prst="rect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22776" y="3785616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B38"/>
                </a:solidFill>
              </a:rPr>
              <a:t>Quality Assurance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3922776" y="403250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587"/>
                </a:solidFill>
              </a:rPr>
              <a:t>Rigorous control processes across installation and service.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58368" y="4507992"/>
            <a:ext cx="5852160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8368" y="4507992"/>
            <a:ext cx="73152" cy="749808"/>
          </a:xfrm>
          <a:prstGeom prst="rect">
            <a:avLst/>
          </a:prstGeom>
          <a:solidFill>
            <a:srgbClr val="C9A15D"/>
          </a:solidFill>
          <a:ln w="12700">
            <a:solidFill>
              <a:srgbClr val="C9A15D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8680" y="46542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8"/>
                </a:solidFill>
              </a:rPr>
              <a:t>Competitive Pricing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868680" y="490118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47587"/>
                </a:solidFill>
              </a:rPr>
              <a:t>Transparent, value-based pricing with no hidden costs.</a:t>
            </a:r>
            <a:endParaRPr lang="en-US" sz="970" dirty="0"/>
          </a:p>
        </p:txBody>
      </p:sp>
      <p:sp>
        <p:nvSpPr>
          <p:cNvPr id="38" name="Text 35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29184"/>
            <a:ext cx="402336" cy="402336"/>
          </a:xfrm>
          <a:prstGeom prst="arc">
            <a:avLst/>
          </a:prstGeom>
          <a:noFill/>
          <a:ln w="33020">
            <a:solidFill>
              <a:srgbClr val="06213B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341864" y="475488"/>
            <a:ext cx="91440" cy="91440"/>
          </a:xfrm>
          <a:prstGeom prst="ellipse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10268712" y="402336"/>
            <a:ext cx="256032" cy="256032"/>
          </a:xfrm>
          <a:prstGeom prst="arc">
            <a:avLst/>
          </a:prstGeom>
          <a:noFill/>
          <a:ln w="17780">
            <a:solidFill>
              <a:srgbClr val="2FB9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2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 Clients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731520" cy="0"/>
          </a:xfrm>
          <a:prstGeom prst="line">
            <a:avLst/>
          </a:prstGeom>
          <a:noFill/>
          <a:ln w="38100">
            <a:solidFill>
              <a:srgbClr val="2FB9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organizations served across healthcare, retail, housing, manufacturing, aviation and entertainment.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23774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CE9F0"/>
            </a:solidFill>
            <a:prstDash val="solid"/>
          </a:ln>
          <a:effectLst>
            <a:outerShdw blurRad="12700" dist="50800" dir="2700000" algn="bl" rotWithShape="0">
              <a:srgbClr val="D9E5E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2011680"/>
            <a:ext cx="384048" cy="384048"/>
          </a:xfrm>
          <a:prstGeom prst="ellipse">
            <a:avLst/>
          </a:prstGeom>
          <a:solidFill>
            <a:srgbClr val="2FB9B7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7" y="2048256"/>
            <a:ext cx="1594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B38"/>
                </a:solidFill>
              </a:rPr>
              <a:t>MES Hospital, Udhampur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44167" y="2437965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587"/>
                </a:solidFill>
              </a:rPr>
              <a:t>Hospital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3774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CE9F0"/>
            </a:solidFill>
            <a:prstDash val="solid"/>
          </a:ln>
          <a:effectLst>
            <a:outerShdw blurRad="12700" dist="50800" dir="2700000" algn="bl" rotWithShape="0">
              <a:srgbClr val="D9E5E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9312" y="2011680"/>
            <a:ext cx="384048" cy="384048"/>
          </a:xfrm>
          <a:prstGeom prst="ellipse">
            <a:avLst/>
          </a:prstGeom>
          <a:solidFill>
            <a:srgbClr val="C9A15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2048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B38"/>
                </a:solidFill>
              </a:rPr>
              <a:t>Varun Beverages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55948" y="244885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587"/>
                </a:solidFill>
              </a:rPr>
              <a:t>Beverage Industry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23774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CE9F0"/>
            </a:solidFill>
            <a:prstDash val="solid"/>
          </a:ln>
          <a:effectLst>
            <a:outerShdw blurRad="12700" dist="50800" dir="2700000" algn="bl" rotWithShape="0">
              <a:srgbClr val="D9E5E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011680"/>
            <a:ext cx="384048" cy="384048"/>
          </a:xfrm>
          <a:prstGeom prst="ellipse">
            <a:avLst/>
          </a:prstGeom>
          <a:solidFill>
            <a:srgbClr val="06213B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2048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B38"/>
                </a:solidFill>
              </a:rPr>
              <a:t>Bhavani Pharmaceuticals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22008" y="2454511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587"/>
                </a:solidFill>
              </a:rPr>
              <a:t>Healthcare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3774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CE9F0"/>
            </a:solidFill>
            <a:prstDash val="solid"/>
          </a:ln>
          <a:effectLst>
            <a:outerShdw blurRad="12700" dist="50800" dir="2700000" algn="bl" rotWithShape="0">
              <a:srgbClr val="D9E5E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17152" y="2011680"/>
            <a:ext cx="384048" cy="384048"/>
          </a:xfrm>
          <a:prstGeom prst="ellipse">
            <a:avLst/>
          </a:prstGeom>
          <a:solidFill>
            <a:srgbClr val="2FB9B7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0928" y="20482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B38"/>
                </a:solidFill>
              </a:rPr>
              <a:t>Mogambo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38360" y="23957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587"/>
                </a:solidFill>
              </a:rPr>
              <a:t>Game Zone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383280"/>
            <a:ext cx="23774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CE9F0"/>
            </a:solidFill>
            <a:prstDash val="solid"/>
          </a:ln>
          <a:effectLst>
            <a:outerShdw blurRad="12700" dist="50800" dir="2700000" algn="bl" rotWithShape="0">
              <a:srgbClr val="D9E5E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" y="3566160"/>
            <a:ext cx="384048" cy="384048"/>
          </a:xfrm>
          <a:prstGeom prst="ellipse">
            <a:avLst/>
          </a:prstGeom>
          <a:solidFill>
            <a:srgbClr val="C9A15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4168" y="36027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B38"/>
                </a:solidFill>
              </a:rPr>
              <a:t>Z Square Mall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44168" y="40782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587"/>
                </a:solidFill>
              </a:rPr>
              <a:t>Retail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3383280"/>
            <a:ext cx="23774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CE9F0"/>
            </a:solidFill>
            <a:prstDash val="solid"/>
          </a:ln>
          <a:effectLst>
            <a:outerShdw blurRad="12700" dist="50800" dir="2700000" algn="bl" rotWithShape="0">
              <a:srgbClr val="D9E5E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39312" y="3566160"/>
            <a:ext cx="384048" cy="384048"/>
          </a:xfrm>
          <a:prstGeom prst="ellipse">
            <a:avLst/>
          </a:prstGeom>
          <a:solidFill>
            <a:srgbClr val="06213B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33088" y="36027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B38"/>
                </a:solidFill>
              </a:rPr>
              <a:t>Emaar Housing / Gomti Greens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33088" y="40782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587"/>
                </a:solidFill>
              </a:rPr>
              <a:t>Housing Development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3383280"/>
            <a:ext cx="23774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CE9F0"/>
            </a:solidFill>
            <a:prstDash val="solid"/>
          </a:ln>
          <a:effectLst>
            <a:outerShdw blurRad="12700" dist="50800" dir="2700000" algn="bl" rotWithShape="0">
              <a:srgbClr val="D9E5E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3566160"/>
            <a:ext cx="384048" cy="384048"/>
          </a:xfrm>
          <a:prstGeom prst="ellipse">
            <a:avLst/>
          </a:prstGeom>
          <a:solidFill>
            <a:srgbClr val="2FB9B7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36027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B38"/>
                </a:solidFill>
              </a:rPr>
              <a:t>Ester Industries, Uttarakhand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22008" y="40782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587"/>
                </a:solidFill>
              </a:rPr>
              <a:t>Manufacturing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52560" y="3383280"/>
            <a:ext cx="23774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CE9F0"/>
            </a:solidFill>
            <a:prstDash val="solid"/>
          </a:ln>
          <a:effectLst>
            <a:outerShdw blurRad="12700" dist="50800" dir="2700000" algn="bl" rotWithShape="0">
              <a:srgbClr val="D9E5EC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217152" y="3566160"/>
            <a:ext cx="384048" cy="384048"/>
          </a:xfrm>
          <a:prstGeom prst="ellipse">
            <a:avLst/>
          </a:prstGeom>
          <a:solidFill>
            <a:srgbClr val="C9A15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10928" y="36027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2B38"/>
                </a:solidFill>
              </a:rPr>
              <a:t>Rajkot Airport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710928" y="40782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587"/>
                </a:solidFill>
              </a:rPr>
              <a:t>Aviation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" y="5175504"/>
            <a:ext cx="10881360" cy="640080"/>
          </a:xfrm>
          <a:prstGeom prst="roundRect">
            <a:avLst>
              <a:gd name="adj" fmla="val 18571"/>
            </a:avLst>
          </a:prstGeom>
          <a:solidFill>
            <a:srgbClr val="06213B"/>
          </a:solidFill>
          <a:ln w="12700">
            <a:solidFill>
              <a:srgbClr val="06213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537667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Client base reflects cross-sector capability: healthcare, commercial spaces, residential development, manufacturing and aviation.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D8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5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329184"/>
            <a:ext cx="402336" cy="402336"/>
          </a:xfrm>
          <a:prstGeom prst="arc">
            <a:avLst/>
          </a:prstGeom>
          <a:noFill/>
          <a:ln w="330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341864" y="475488"/>
            <a:ext cx="91440" cy="91440"/>
          </a:xfrm>
          <a:prstGeom prst="ellipse">
            <a:avLst/>
          </a:prstGeom>
          <a:solidFill>
            <a:srgbClr val="C9A15D"/>
          </a:solidFill>
          <a:ln w="12700">
            <a:solidFill>
              <a:srgbClr val="C9A1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0">
            <a:off x="10268712" y="402336"/>
            <a:ext cx="256032" cy="256032"/>
          </a:xfrm>
          <a:prstGeom prst="arc">
            <a:avLst/>
          </a:prstGeom>
          <a:noFill/>
          <a:ln w="17780">
            <a:solidFill>
              <a:srgbClr val="C9A1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&amp; Contact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731520" cy="0"/>
          </a:xfrm>
          <a:prstGeom prst="line">
            <a:avLst/>
          </a:prstGeom>
          <a:noFill/>
          <a:ln w="38100">
            <a:solidFill>
              <a:srgbClr val="C9A1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3E2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Experienced professionals leading marketing, technical strategy and company operations.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4672" y="1828800"/>
            <a:ext cx="5010912" cy="2606040"/>
          </a:xfrm>
          <a:prstGeom prst="roundRect">
            <a:avLst>
              <a:gd name="adj" fmla="val 6316"/>
            </a:avLst>
          </a:prstGeom>
          <a:solidFill>
            <a:srgbClr val="092A4A"/>
          </a:solidFill>
          <a:ln w="15240">
            <a:solidFill>
              <a:srgbClr val="1746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157984"/>
            <a:ext cx="658368" cy="658368"/>
          </a:xfrm>
          <a:prstGeom prst="ellipse">
            <a:avLst/>
          </a:prstGeom>
          <a:solidFill>
            <a:srgbClr val="2FB9B7"/>
          </a:solidFill>
          <a:ln w="12700">
            <a:solidFill>
              <a:srgbClr val="2FB9B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35915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93392" y="20848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Aditya Singh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93392" y="24688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15D"/>
                </a:solidFill>
              </a:rPr>
              <a:t>Co-Founder &amp; Marketing Head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93392" y="286207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FE3ED"/>
                </a:solidFill>
              </a:rPr>
              <a:t>10+ years of HVAC industry experience, especially in Sales &amp; Marketing, with focus on service quality and customer satisfaction.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93392" y="376732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+91 8318554343  •  aditya@ceservices.co.in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82512" y="1828800"/>
            <a:ext cx="5010912" cy="2606040"/>
          </a:xfrm>
          <a:prstGeom prst="roundRect">
            <a:avLst>
              <a:gd name="adj" fmla="val 6316"/>
            </a:avLst>
          </a:prstGeom>
          <a:solidFill>
            <a:srgbClr val="092A4A"/>
          </a:solidFill>
          <a:ln w="15240">
            <a:solidFill>
              <a:srgbClr val="17466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2157984"/>
            <a:ext cx="658368" cy="658368"/>
          </a:xfrm>
          <a:prstGeom prst="ellipse">
            <a:avLst/>
          </a:prstGeom>
          <a:solidFill>
            <a:srgbClr val="C9A15D"/>
          </a:solidFill>
          <a:ln w="12700">
            <a:solidFill>
              <a:srgbClr val="C9A15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35915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71232" y="20848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Sudhir Prajapati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71232" y="24688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B9B7"/>
                </a:solidFill>
              </a:rPr>
              <a:t>Co-Founder &amp; Chief Technical Officer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71232" y="286207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FE3ED"/>
                </a:solidFill>
              </a:rPr>
              <a:t>10+ years of experience across Product Development, Design and Supply Chain Management, supporting strategic development and efficient operations.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71232" y="376732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solidFill>
                  <a:srgbClr val="FFFFFF"/>
                </a:solidFill>
              </a:rPr>
              <a:t>+91 9350875423  •  </a:t>
            </a:r>
            <a:r>
              <a:rPr lang="en-US" sz="1050" dirty="0" err="1">
                <a:solidFill>
                  <a:srgbClr val="FFFFFF"/>
                </a:solidFill>
              </a:rPr>
              <a:t>sudhir</a:t>
            </a:r>
            <a:r>
              <a:rPr lang="en-US" sz="1050" dirty="0">
                <a:solidFill>
                  <a:srgbClr val="FFFFFF"/>
                </a:solidFill>
              </a:rPr>
              <a:t> @ceservices.co.in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88720" y="5102352"/>
            <a:ext cx="978408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5312664"/>
            <a:ext cx="9281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6213B"/>
                </a:solidFill>
              </a:rPr>
              <a:t>Cawnpore Engineering Services • Kanpur • Pan-India HVAC Solutions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F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CAWNPORE ENGINEERING SERVICES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915400" y="6583680"/>
            <a:ext cx="1783080" cy="0"/>
          </a:xfrm>
          <a:prstGeom prst="line">
            <a:avLst/>
          </a:prstGeom>
          <a:noFill/>
          <a:ln w="12700">
            <a:solidFill>
              <a:srgbClr val="456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FD3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DA2B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783</Words>
  <Application>Microsoft Office PowerPoint</Application>
  <PresentationFormat>Widescreen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Cawnpore Engineering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Cawnpore Engineering Services Company Profile</dc:title>
  <dc:subject>Company profile presentation</dc:subject>
  <dc:creator>OpenAI</dc:creator>
  <cp:lastModifiedBy>abhi.prajapati2005@outlook.com</cp:lastModifiedBy>
  <cp:revision>2</cp:revision>
  <dcterms:created xsi:type="dcterms:W3CDTF">2026-07-25T19:00:09Z</dcterms:created>
  <dcterms:modified xsi:type="dcterms:W3CDTF">2026-07-26T02:31:07Z</dcterms:modified>
</cp:coreProperties>
</file>